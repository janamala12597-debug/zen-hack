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PRESENTATION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" y="18745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AgriShield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290779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E9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Offline-first parametric micro-insurance for smallholder farmers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31520" y="4956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Weather-triggered protection that keeps working when connectivity does not.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58200" y="1143000"/>
            <a:ext cx="2834640" cy="2834640"/>
          </a:xfrm>
          <a:prstGeom prst="arc">
            <a:avLst/>
          </a:prstGeom>
          <a:noFill/>
          <a:ln w="355600">
            <a:solidFill>
              <a:srgbClr val="087F5B">
                <a:alpha val="8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15400" y="1600200"/>
            <a:ext cx="1920240" cy="1920240"/>
          </a:xfrm>
          <a:prstGeom prst="arc">
            <a:avLst/>
          </a:prstGeom>
          <a:noFill/>
          <a:ln w="228600">
            <a:solidFill>
              <a:srgbClr val="F5B942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WEATHER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TRIGGERED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BC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protection gap is also a connectivity gap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792" y="1234440"/>
            <a:ext cx="1097280" cy="0"/>
          </a:xfrm>
          <a:prstGeom prst="line">
            <a:avLst/>
          </a:prstGeom>
          <a:noFill/>
          <a:ln w="50800">
            <a:solidFill>
              <a:srgbClr val="F5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36192"/>
            <a:ext cx="56235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Smallholder farmers face rainfall volatility, delayed claims, and limited access to trusted insurance.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Rural connectivity can be intermittent exactly when a farmer needs to submit evidence.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verification slows payouts and makes every claim expensive to process.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52669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87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make the claim journey simple, auditable, and resilient offline.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353312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5240">
            <a:solidFill>
              <a:srgbClr val="C9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947672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6D8C8"/>
          </a:solidFill>
          <a:ln w="12700">
            <a:solidFill>
              <a:srgbClr val="F6D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88352" y="2057400"/>
            <a:ext cx="104241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DROUGHT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0" y="1947672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42832" y="2057400"/>
            <a:ext cx="104241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46920" y="3182112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DCEFF3"/>
          </a:solidFill>
          <a:ln w="12700">
            <a:solidFill>
              <a:srgbClr val="DCEF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20072" y="3291840"/>
            <a:ext cx="1042416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GAP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31352" y="2121408"/>
            <a:ext cx="256032" cy="27432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2907792"/>
            <a:ext cx="411480" cy="27432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42793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7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Farmer needs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87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fast, fair support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C9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parametric safety net built around verified weather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792" y="1234440"/>
            <a:ext cx="1097280" cy="0"/>
          </a:xfrm>
          <a:prstGeom prst="line">
            <a:avLst/>
          </a:prstGeom>
          <a:noFill/>
          <a:ln w="50800">
            <a:solidFill>
              <a:srgbClr val="F5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36192"/>
            <a:ext cx="56235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 define a crop, location, coverage period, rainfall trigger, and payout amount.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weather sources are combined using a median consensus, with outliers flagged.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Eligible claims move through verification and payout workflows without manual field inspection.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52669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87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transparent rules, faster decisions, and predictable support.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353312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5240">
            <a:solidFill>
              <a:srgbClr val="C9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856232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96912" y="1965960"/>
            <a:ext cx="9966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595360" y="1856232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DCEFF3"/>
          </a:solidFill>
          <a:ln w="12700">
            <a:solidFill>
              <a:srgbClr val="DCEF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1965960"/>
            <a:ext cx="9966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966960" y="1856232"/>
            <a:ext cx="914400" cy="640080"/>
          </a:xfrm>
          <a:prstGeom prst="roundRect">
            <a:avLst>
              <a:gd name="adj" fmla="val 8571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40112" y="1965960"/>
            <a:ext cx="7680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94192" y="2039112"/>
            <a:ext cx="164592" cy="22860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65792" y="2039112"/>
            <a:ext cx="164592" cy="22860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318211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087F5B"/>
          </a:solidFill>
          <a:ln w="12700">
            <a:solidFill>
              <a:srgbClr val="087F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3291840"/>
            <a:ext cx="1773936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CONSENSUS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450799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rainfall = median(source 1, source 2, source 3)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C9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rainfall signal to farmer payout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792" y="1234440"/>
            <a:ext cx="1097280" cy="0"/>
          </a:xfrm>
          <a:prstGeom prst="line">
            <a:avLst/>
          </a:prstGeom>
          <a:noFill/>
          <a:ln w="50800">
            <a:solidFill>
              <a:srgbClr val="F5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36192"/>
            <a:ext cx="56235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Weather readings arrive from three independent sources.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The policy engine calculates a verified rainfall median.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The farmer submits a claim online or saves it locally while offline.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The backend verifies the trigger, records an audit trail, and initiates payout.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353312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5240">
            <a:solidFill>
              <a:srgbClr val="C9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947672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DCEFF3"/>
          </a:solidFill>
          <a:ln w="12700">
            <a:solidFill>
              <a:srgbClr val="DCEF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79792" y="2057400"/>
            <a:ext cx="13624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weather 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72600" y="1947672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45752" y="2057400"/>
            <a:ext cx="13624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 + outlier 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3593592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6D8C8"/>
          </a:solidFill>
          <a:ln w="12700">
            <a:solidFill>
              <a:srgbClr val="F6D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3703320"/>
            <a:ext cx="13624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online/offline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372600" y="3593592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45752" y="3703320"/>
            <a:ext cx="1362456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payout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88552" y="2167128"/>
            <a:ext cx="228600" cy="22860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2798064"/>
            <a:ext cx="228600" cy="22860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0" y="3529584"/>
            <a:ext cx="228600" cy="22860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C9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Architecture: small, focused, and deployable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792" y="1234440"/>
            <a:ext cx="1097280" cy="0"/>
          </a:xfrm>
          <a:prstGeom prst="line">
            <a:avLst/>
          </a:prstGeom>
          <a:noFill/>
          <a:ln w="50800">
            <a:solidFill>
              <a:srgbClr val="F5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36192"/>
            <a:ext cx="56235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and TypeScript frontend with responsive farmer and administrator views.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and Express REST API for authentication, policies, weather, claims, payouts, and audit logs.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with WAL mode keeps the deployment lightweight and self-contained.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5074920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526694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87F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codebase supports development, production static hosting, and offline web use.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353312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5240">
            <a:solidFill>
              <a:srgbClr val="C9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856232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88352" y="1965960"/>
            <a:ext cx="32826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TypeScript + PWA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2999232"/>
            <a:ext cx="3429000" cy="640080"/>
          </a:xfrm>
          <a:prstGeom prst="roundRect">
            <a:avLst>
              <a:gd name="adj" fmla="val 8571"/>
            </a:avLst>
          </a:prstGeom>
          <a:solidFill>
            <a:srgbClr val="DCEFF3"/>
          </a:solidFill>
          <a:ln w="12700">
            <a:solidFill>
              <a:srgbClr val="DCEF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88352" y="3108960"/>
            <a:ext cx="328269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REST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4142232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4251960"/>
            <a:ext cx="136245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WAL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4142232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F6D8C8"/>
          </a:solidFill>
          <a:ln w="12700">
            <a:solidFill>
              <a:srgbClr val="F6D8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08592" y="4251960"/>
            <a:ext cx="1362456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Engine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05672" y="2560320"/>
            <a:ext cx="228600" cy="27432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05672" y="3703320"/>
            <a:ext cx="228600" cy="27432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52669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  |  Claims  |  Weather  |  Payouts  |  Audit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C9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Offline-first is a product behavior, not a fallback screen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792" y="1234440"/>
            <a:ext cx="1097280" cy="0"/>
          </a:xfrm>
          <a:prstGeom prst="line">
            <a:avLst/>
          </a:prstGeom>
          <a:noFill/>
          <a:ln w="50800">
            <a:solidFill>
              <a:srgbClr val="F5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36192"/>
            <a:ext cx="56235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are stored locally when the network is unavailable.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queue shows what is waiting to sync.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Reconnection triggers synchronization and preserves the user journey.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Cached profiles and weather context keep the experience useful between connections.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353312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5240">
            <a:solidFill>
              <a:srgbClr val="C9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993392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34072" y="2103120"/>
            <a:ext cx="1179576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464040" y="1993392"/>
            <a:ext cx="1325880" cy="777240"/>
          </a:xfrm>
          <a:prstGeom prst="roundRect">
            <a:avLst>
              <a:gd name="adj" fmla="val 7059"/>
            </a:avLst>
          </a:prstGeom>
          <a:solidFill>
            <a:srgbClr val="F6D8C8"/>
          </a:solidFill>
          <a:ln w="12700">
            <a:solidFill>
              <a:srgbClr val="F6D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37192" y="2103120"/>
            <a:ext cx="1179576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42248" y="2221992"/>
            <a:ext cx="347472" cy="27432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0" y="3502152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1312" y="3611880"/>
            <a:ext cx="1773936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QUEUE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78824" y="2907792"/>
            <a:ext cx="256032" cy="32004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7823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7F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Reconnect -&gt; sync -&gt; confirm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C9D8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5897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5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experiences, one trusted source of truth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21792" y="1234440"/>
            <a:ext cx="1097280" cy="0"/>
          </a:xfrm>
          <a:prstGeom prst="line">
            <a:avLst/>
          </a:prstGeom>
          <a:noFill/>
          <a:ln w="50800">
            <a:solidFill>
              <a:srgbClr val="F5B9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36192"/>
            <a:ext cx="562356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Farmer: view policy, rainfall status, claim history, payout decision, and voice explanation.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Administrator: monitor devices, inspect claims, review weather consensus, settle payouts, and audit actions.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English and Telugu language support meets users where they are.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03720" y="1353312"/>
            <a:ext cx="4343400" cy="44805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5240">
            <a:solidFill>
              <a:srgbClr val="C9D8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1993392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DDF4EA"/>
          </a:solidFill>
          <a:ln w="12700">
            <a:solidFill>
              <a:srgbClr val="DDF4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88352" y="2103120"/>
            <a:ext cx="136245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326880" y="1993392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DCEFF3"/>
          </a:solidFill>
          <a:ln w="12700">
            <a:solidFill>
              <a:srgbClr val="DCEF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00032" y="2103120"/>
            <a:ext cx="136245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3776472"/>
            <a:ext cx="1508760" cy="914400"/>
          </a:xfrm>
          <a:prstGeom prst="roundRect">
            <a:avLst>
              <a:gd name="adj" fmla="val 6000"/>
            </a:avLst>
          </a:prstGeom>
          <a:solidFill>
            <a:srgbClr val="087F5B"/>
          </a:solidFill>
          <a:ln w="12700">
            <a:solidFill>
              <a:srgbClr val="087F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4192" y="3886200"/>
            <a:ext cx="1362456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75320" y="3136392"/>
            <a:ext cx="256032" cy="36576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0" y="3136392"/>
            <a:ext cx="256032" cy="365760"/>
          </a:xfrm>
          <a:prstGeom prst="chevron">
            <a:avLst/>
          </a:prstGeom>
          <a:solidFill>
            <a:srgbClr val="F5B942"/>
          </a:solidFill>
          <a:ln w="12700">
            <a:solidFill>
              <a:srgbClr val="F5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51023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73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Bilingual, auditable, role-aware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C9D8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528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B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58368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7680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AGRICULTURE  /  INSURANCE  /  TRUST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85800" y="18745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insurance reachable when it matters most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31520" y="290779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6E9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turns weather data into a simple, auditable promise: verify fairly, pay quickly, keep working offline.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31520" y="4956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steps: connect production weather providers, integrate regulated payout rails, and pilot with local farmer groups.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58200" y="1143000"/>
            <a:ext cx="2834640" cy="2834640"/>
          </a:xfrm>
          <a:prstGeom prst="arc">
            <a:avLst/>
          </a:prstGeom>
          <a:noFill/>
          <a:ln w="355600">
            <a:solidFill>
              <a:srgbClr val="087F5B">
                <a:alpha val="8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915400" y="1600200"/>
            <a:ext cx="1920240" cy="1920240"/>
          </a:xfrm>
          <a:prstGeom prst="arc">
            <a:avLst/>
          </a:prstGeom>
          <a:noFill/>
          <a:ln w="228600">
            <a:solidFill>
              <a:srgbClr val="F5B942">
                <a:alpha val="9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3252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WEATHER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TRIGGERED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PROTECTION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315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BC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AgriShield  / 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AgriShield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AgriShield Product Presentation</dc:title>
  <dc:subject>Offline-first parametric micro-insurance</dc:subject>
  <dc:creator>AgriShield</dc:creator>
  <cp:lastModifiedBy>AgriShield</cp:lastModifiedBy>
  <cp:revision>1</cp:revision>
  <dcterms:created xsi:type="dcterms:W3CDTF">2026-09-12T10:07:25Z</dcterms:created>
  <dcterms:modified xsi:type="dcterms:W3CDTF">2026-09-12T10:07:25Z</dcterms:modified>
</cp:coreProperties>
</file>